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3" r:id="rId6"/>
    <p:sldId id="260" r:id="rId7"/>
    <p:sldId id="261" r:id="rId8"/>
    <p:sldId id="262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587C15-3F8D-231F-91E5-EFF932F90E6E}" v="302" dt="2026-06-18T00:54:15.7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3955A9-ED01-4481-8BA7-EFFB69C65C22}" type="datetimeFigureOut">
              <a:t>17.06.2026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2F58ED-7D54-4CE5-B630-2FDA9683472A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0148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min. Greet jury. CATCHY = ANR project, 18 months, IATE Montpellier.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min. Virginie Hugouvieux is co-author of Paper 1 — natural link to CATCHY.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2.5 min. Be transparent about approximations — interviewers appreciate honesty.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1.5 min. λ=2.65 vs Paper 1 λ=2.01 — slightly larger because ρ_eff differs slightly from target. Bond distribution peaks at r_eq=0.961 — KG equilibration confirmed.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2669D-7351-32CD-C7EC-D803624FE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A49C3F-DCDE-3FAA-FCDD-AE5C32EABA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089008-40FE-95D9-6B45-32F8026CE7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1.5 min. λ=2.65 vs Paper 1 λ=2.01 — slightly larger because ρ_eff differs slightly from target. Bond distribution peaks at r_eq=0.961 — KG equilibration confirmed.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6812DF-F7B9-4610-C41E-48C2F6D0BB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3928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1.5 min. Show the 4 VMD frames — network starts compact, enzymes (red) diffuse, bonds break, network swells. This is the gel-to-sol transition.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min. MSD is perfectly diffusive — C=0.5 means enzyme barely confined. S(t) decays fast: at small σ_E enzyme fits everywhere and contacts bonds often. Next: run larger σ_E to enter hopping regime.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1.5 min. Close with the GitHub link. Emphasise the pipeline is reproducible and documented.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547C8-2358-84FC-7398-C3D3FE5B7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3516BF-07E1-F524-7DCE-9F6D4BB942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0B0548-1182-BF2D-6F7E-355E4E7078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1.5 min. Close with the GitHub link. Emphasise the pipeline is reproducible and documented.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C3765C-9FD1-B22A-F692-380D10F4CA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6850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your-username/CATCHY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kern="0" spc="1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CATCHY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548640" y="201168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Catching Enzymes in Action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2606040"/>
            <a:ext cx="5029200" cy="822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Coarse-grained MD simulations of enzyme–polymer systems</a:t>
            </a:r>
            <a:endParaRPr lang="en-US" sz="1300" dirty="0"/>
          </a:p>
          <a:p>
            <a:endParaRPr lang="en-US" sz="1300" i="1" dirty="0">
              <a:solidFill>
                <a:srgbClr val="E2E8F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Text 3">
            <a:hlinkClick r:id="rId3"/>
          </p:cNvPr>
          <p:cNvSpPr/>
          <p:nvPr/>
        </p:nvSpPr>
        <p:spPr>
          <a:xfrm>
            <a:off x="548640" y="4389120"/>
            <a:ext cx="50292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2C39A"/>
                </a:solidFill>
                <a:ea typeface="+mn-lt"/>
                <a:cs typeface="+mn-lt"/>
              </a:rPr>
              <a:t>https://github.com/gosthak/Interview</a:t>
            </a:r>
            <a:endParaRPr lang="ru-RU">
              <a:ea typeface="+mn-lt"/>
              <a:cs typeface="+mn-lt"/>
            </a:endParaRPr>
          </a:p>
        </p:txBody>
      </p:sp>
      <p:pic>
        <p:nvPicPr>
          <p:cNvPr id="8" name="Рисунок 7" descr="Изображение выглядит как желтый, Красочность, Детское искусство, искусств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F1EAE14-5A44-6597-473F-98C891569F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2263" y="0"/>
            <a:ext cx="4125901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Starting Point: Sorichetti, Hugouvieux &amp; Kob (2021)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4023360" cy="3977640"/>
          </a:xfrm>
          <a:prstGeom prst="roundRect">
            <a:avLst>
              <a:gd name="adj" fmla="val 1839"/>
            </a:avLst>
          </a:prstGeom>
          <a:solidFill>
            <a:srgbClr val="E8F4F8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9601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 err="1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Sorichetti</a:t>
            </a:r>
            <a:r>
              <a:rPr lang="en-US" sz="1400" b="1" dirty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400" b="1" dirty="0" err="1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Hugouvieux</a:t>
            </a:r>
            <a:r>
              <a:rPr lang="en-US" sz="1400" b="1" dirty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, Kob model</a:t>
            </a:r>
            <a:endParaRPr lang="en-US" sz="1400" dirty="0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37490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Kremer-</a:t>
            </a:r>
            <a:r>
              <a:rPr lang="en-US" sz="1200" dirty="0" err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Grest</a:t>
            </a:r>
            <a:r>
              <a:rPr lang="en-US" sz="1200" dirty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 bead-spring polymer network
</a:t>
            </a:r>
            <a:endParaRPr lang="en-US" sz="1200" dirty="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Passive nanoparticles (NPs) diffusing through the network
</a:t>
            </a:r>
            <a:endParaRPr lang="en-US" sz="1200" dirty="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Confinement  C = </a:t>
            </a:r>
            <a:r>
              <a:rPr lang="en-US" sz="1200" dirty="0" err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σ_N</a:t>
            </a:r>
            <a:r>
              <a:rPr lang="en-US" sz="1200" dirty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 / λ  controls dynamics
</a:t>
            </a:r>
            <a:endParaRPr lang="en-US" sz="1200" dirty="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
Three regimes:
</a:t>
            </a:r>
            <a:endParaRPr lang="en-US" sz="1200" dirty="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C ≲ 1   →   free diffusion (Cai–Rubinstein)
</a:t>
            </a:r>
            <a:endParaRPr lang="en-US" sz="1200" dirty="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20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1≲C≲3  →   activated hopping</a:t>
            </a:r>
            <a:r>
              <a:rPr lang="en-US" sz="1200" dirty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
</a:t>
            </a:r>
            <a:endParaRPr lang="en-US" sz="1200" dirty="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20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C ≳ 3   →   extreme confinement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754880" y="868680"/>
            <a:ext cx="4023360" cy="3977640"/>
          </a:xfrm>
          <a:prstGeom prst="roundRect">
            <a:avLst>
              <a:gd name="adj" fmla="val 1839"/>
            </a:avLst>
          </a:prstGeom>
          <a:solidFill>
            <a:srgbClr val="E6FAF6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92040" y="9601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2C39A"/>
                </a:solidFill>
                <a:latin typeface="Calibri"/>
                <a:ea typeface="Calibri"/>
                <a:cs typeface="Calibri"/>
              </a:rPr>
              <a:t>Our extension 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8" name="Text 6"/>
          <p:cNvSpPr/>
          <p:nvPr/>
        </p:nvSpPr>
        <p:spPr>
          <a:xfrm>
            <a:off x="4892040" y="1371600"/>
            <a:ext cx="37490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NPs  →  Enzymes
</a:t>
            </a:r>
            <a:endParaRPr lang="en-US" sz="1200" dirty="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that actively cleave network bonds upon contact
</a:t>
            </a:r>
            <a:endParaRPr lang="en-US" sz="1200" dirty="0">
              <a:latin typeface="Calibri"/>
              <a:ea typeface="Calibri"/>
              <a:cs typeface="Calibri"/>
            </a:endParaRPr>
          </a:p>
          <a:p>
            <a:r>
              <a:rPr lang="en-US" sz="120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Same physics, same potentials, but</a:t>
            </a:r>
          </a:p>
          <a:p>
            <a:endParaRPr lang="en-US" sz="1200" dirty="0">
              <a:solidFill>
                <a:srgbClr val="0F172A"/>
              </a:solidFill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20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Novelty:</a:t>
            </a:r>
            <a:r>
              <a:rPr lang="en-US" sz="1200" dirty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
</a:t>
            </a:r>
            <a:endParaRPr lang="en-US" sz="120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Stochastic bond cleavage
</a:t>
            </a:r>
            <a:endParaRPr lang="en-US" sz="1200" dirty="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p = 1 − exp(−</a:t>
            </a:r>
            <a:r>
              <a:rPr lang="en-US" sz="1200" dirty="0" err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k_cat</a:t>
            </a:r>
            <a:r>
              <a:rPr lang="en-US" sz="1200" dirty="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 · dt · </a:t>
            </a:r>
            <a:r>
              <a:rPr lang="en-US" sz="1200" dirty="0" err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Δt_check</a:t>
            </a:r>
            <a:r>
              <a:rPr lang="en-US" sz="1200" dirty="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)
</a:t>
            </a:r>
            <a:endParaRPr lang="en-US" sz="1200" dirty="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Active vs Passive runs isolate
</a:t>
            </a:r>
            <a:endParaRPr lang="en-US" sz="1200" dirty="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the enzymatic enhancement </a:t>
            </a:r>
            <a:r>
              <a:rPr lang="en-US" sz="1200" dirty="0" err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D_active</a:t>
            </a:r>
            <a:r>
              <a:rPr lang="en-US" sz="1200" dirty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 / </a:t>
            </a:r>
            <a:r>
              <a:rPr lang="en-US" sz="1200" dirty="0" err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D_passive</a:t>
            </a:r>
            <a:endParaRPr lang="en-US" sz="1200" dirty="0" err="1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Differences vs Paper 1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6031812"/>
              </p:ext>
            </p:extLst>
          </p:nvPr>
        </p:nvGraphicFramePr>
        <p:xfrm>
          <a:off x="365760" y="822960"/>
          <a:ext cx="8434546" cy="4114800"/>
        </p:xfrm>
        <a:graphic>
          <a:graphicData uri="http://schemas.openxmlformats.org/drawingml/2006/table">
            <a:tbl>
              <a:tblPr/>
              <a:tblGrid>
                <a:gridCol w="22592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23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629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100" b="1" err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Sorichetti</a:t>
                      </a: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 et al., 2021</a:t>
                      </a:r>
                      <a:endParaRPr lang="ru-RU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This try for CATCHY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construction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Patchy-particle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self-assembly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(MD run)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Cubic lattice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= 0.8 R₀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Flory-Stockmayer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size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≈ 4×10⁵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≈ 57 000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(after pruning)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Diffusing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particle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Passive NP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(no chemistry)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enzyme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k_cat &gt;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Cleavage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Cross-link bonds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Cleavage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probability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Poisson process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p=1−exp(−k_cat·dt·Δt)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Equilibrated Network — Data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1783743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E8F4F8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1856895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57 491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2378103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N_m — monomers (after pruning)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0" y="1783743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E8F4F8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337560" y="1856895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56.4 σ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337560" y="2378103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— box side length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035040" y="1783743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E8F4F8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172200" y="1856895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0.290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172200" y="2378103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 — monomer density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3018183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E8F4F8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3091335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59 627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02920" y="3612543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bonds — total (39 229 bb + 20 398 cl)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0" y="3018183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E8F4F8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337560" y="3091335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2.653 σ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3337560" y="3612543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λ measured — vs Manusc</a:t>
            </a: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ript: 2.01 σ</a:t>
            </a:r>
            <a:endParaRPr lang="en-US" sz="1000">
              <a:latin typeface="Calibri"/>
              <a:ea typeface="Calibri"/>
              <a:cs typeface="Calibri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035040" y="3018183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E8F4F8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172200" y="3091335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0.961 σ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172200" y="3612543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r_eq — bond length at equilibrium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98459F-FBB1-E23F-06D5-5E056B4B1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6FA4292-D1C0-4219-09A0-9F0DD821EE31}"/>
              </a:ext>
            </a:extLst>
          </p:cNvPr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Equilibrated Network — Data</a:t>
            </a:r>
            <a:endParaRPr lang="en-US" sz="2200" dirty="0"/>
          </a:p>
        </p:txBody>
      </p:sp>
      <p:pic>
        <p:nvPicPr>
          <p:cNvPr id="22" name="Рисунок 21" descr="Изображение выглядит как текст, диаграмма, линия, Граф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9368601-AD85-8C7D-9003-522B79C2C0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66750"/>
            <a:ext cx="9144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7286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Active Simulation — Network Degradation (σ_E = 1.0)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228600" y="4343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0  (initial)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2423160" y="4343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1</a:t>
            </a:r>
            <a:endParaRPr lang="ru-RU"/>
          </a:p>
        </p:txBody>
      </p:sp>
      <p:sp>
        <p:nvSpPr>
          <p:cNvPr id="8" name="Text 3"/>
          <p:cNvSpPr/>
          <p:nvPr/>
        </p:nvSpPr>
        <p:spPr>
          <a:xfrm>
            <a:off x="4617720" y="4343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2</a:t>
            </a:r>
            <a:endParaRPr lang="ru-RU"/>
          </a:p>
        </p:txBody>
      </p:sp>
      <p:sp>
        <p:nvSpPr>
          <p:cNvPr id="10" name="Text 4"/>
          <p:cNvSpPr/>
          <p:nvPr/>
        </p:nvSpPr>
        <p:spPr>
          <a:xfrm>
            <a:off x="6812280" y="4343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3</a:t>
            </a:r>
            <a:endParaRPr lang="ru-RU"/>
          </a:p>
        </p:txBody>
      </p:sp>
      <p:sp>
        <p:nvSpPr>
          <p:cNvPr id="11" name="Text 5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= monomers  ·  Red = enzymes  ·  Network dissolves as cross-links are cleaved</a:t>
            </a:r>
            <a:endParaRPr lang="en-US" sz="1000" dirty="0"/>
          </a:p>
        </p:txBody>
      </p:sp>
      <p:pic>
        <p:nvPicPr>
          <p:cNvPr id="12" name="Рисунок 11" descr="Изображение выглядит как Красочность, желт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B4FE67C-C6B8-A8FF-81E8-3A03AC5C2F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1576" y="1135276"/>
            <a:ext cx="2311003" cy="2880669"/>
          </a:xfrm>
          <a:prstGeom prst="rect">
            <a:avLst/>
          </a:prstGeom>
        </p:spPr>
      </p:pic>
      <p:pic>
        <p:nvPicPr>
          <p:cNvPr id="13" name="Рисунок 12" descr="Изображение выглядит как Красочность, желт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3699B02-1D96-BCE7-AC51-78C18A4839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8745" y="1127554"/>
            <a:ext cx="2326449" cy="2880669"/>
          </a:xfrm>
          <a:prstGeom prst="rect">
            <a:avLst/>
          </a:prstGeom>
        </p:spPr>
      </p:pic>
      <p:pic>
        <p:nvPicPr>
          <p:cNvPr id="14" name="Рисунок 13" descr="Изображение выглядит как желтый, Красочность, Детское искусство, искусств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7CF3EE5-AE0D-FC56-C6C6-66630DBEFB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9" y="1127555"/>
            <a:ext cx="2171989" cy="2872946"/>
          </a:xfrm>
          <a:prstGeom prst="rect">
            <a:avLst/>
          </a:prstGeom>
        </p:spPr>
      </p:pic>
      <p:pic>
        <p:nvPicPr>
          <p:cNvPr id="15" name="Рисунок 14" descr="Изображение выглядит как желтый, Красочность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150B02B-5BEB-7F91-8B8A-81DA36A76C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0745" y="1119831"/>
            <a:ext cx="2334172" cy="289611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— σ_E = 1.0, Attractive, Active</a:t>
            </a:r>
            <a:endParaRPr lang="en-US" sz="2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777240"/>
            <a:ext cx="4389120" cy="310896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63440" y="777240"/>
            <a:ext cx="4206240" cy="310896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274320" y="3931920"/>
            <a:ext cx="8595360" cy="1005840"/>
          </a:xfrm>
          <a:prstGeom prst="roundRect">
            <a:avLst>
              <a:gd name="adj" fmla="val 6364"/>
            </a:avLst>
          </a:prstGeom>
          <a:solidFill>
            <a:srgbClr val="E8F4F8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2"/>
          <p:cNvSpPr/>
          <p:nvPr/>
        </p:nvSpPr>
        <p:spPr>
          <a:xfrm>
            <a:off x="457200" y="40233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MSD: </a:t>
            </a: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= 0.132 σ²/τ*  — enzyme (σ_E=1, C≈0.5) diffuses freely, slope 1 from t=6 τ* onwards.   </a:t>
            </a: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S(t): </a:t>
            </a: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cross-links cleaved by t ≈ 2500 τ*  — fast degradation at small C (high contact frequency).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8412480" cy="713232"/>
          </a:xfrm>
          <a:prstGeom prst="roundRect">
            <a:avLst>
              <a:gd name="adj" fmla="val 7692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7840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Run σ_E = 2–5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566160" y="996696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hopping and extreme-confinement regimes. Compute D(C) active vs passive.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8412480" cy="713232"/>
          </a:xfrm>
          <a:prstGeom prst="roundRect">
            <a:avLst>
              <a:gd name="adj" fmla="val 7692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7830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D_active / D_passive vs C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566160" y="180136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Enhancement diverges at C ≳ 3 where cleavage is the only escape?</a:t>
            </a:r>
            <a:endParaRPr lang="en-US" sz="1100" dirty="0">
              <a:latin typeface="Calibri"/>
              <a:ea typeface="Calibri"/>
              <a:cs typeface="Calibri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65760" y="2523744"/>
            <a:ext cx="8412480" cy="713232"/>
          </a:xfrm>
          <a:prstGeom prst="roundRect">
            <a:avLst>
              <a:gd name="adj" fmla="val 7692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58775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Larger system (GPU cluster)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66160" y="26060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>
              <a:solidFill>
                <a:srgbClr val="E2E8F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65760" y="3328416"/>
            <a:ext cx="8412480" cy="713232"/>
          </a:xfrm>
          <a:prstGeom prst="roundRect">
            <a:avLst>
              <a:gd name="adj" fmla="val 7692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39242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Backbone cleavage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66160" y="341071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endo-acting enzymes (cellulases cut backbone, not cross-links).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4133088"/>
            <a:ext cx="8412480" cy="713232"/>
          </a:xfrm>
          <a:prstGeom prst="roundRect">
            <a:avLst>
              <a:gd name="adj" fmla="val 7692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19709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Experiment link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566160" y="4215384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Compare ξ(t) and degradation front with photon correlation data.</a:t>
            </a:r>
            <a:endParaRPr lang="en-US" sz="110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5A8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718F60-3419-578B-7114-E1EDA2265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00FB342-9DA6-8286-2971-9EBCC4ADCB55}"/>
              </a:ext>
            </a:extLst>
          </p:cNvPr>
          <p:cNvSpPr/>
          <p:nvPr/>
        </p:nvSpPr>
        <p:spPr>
          <a:xfrm>
            <a:off x="457200" y="2298123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>
                <a:solidFill>
                  <a:srgbClr val="FFFFFF"/>
                </a:solidFill>
                <a:latin typeface="Cambria"/>
                <a:ea typeface="Cambria"/>
              </a:rPr>
              <a:t>Thank you for your attention!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45219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Экран (16:9)</PresentationFormat>
  <Paragraphs>0</Paragraphs>
  <Slides>9</Slides>
  <Notes>9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0" baseType="lpstr"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CATCHY — Interview Presentation</dc:title>
  <dc:subject>PptxGenJS Presentation</dc:subject>
  <dc:creator>PptxGenJS</dc:creator>
  <cp:lastModifiedBy>PptxGenJS</cp:lastModifiedBy>
  <cp:revision>85</cp:revision>
  <dcterms:created xsi:type="dcterms:W3CDTF">2026-06-18T00:22:37Z</dcterms:created>
  <dcterms:modified xsi:type="dcterms:W3CDTF">2026-06-18T00:54:32Z</dcterms:modified>
</cp:coreProperties>
</file>